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Accuracy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ResNet-50</c:v>
                  </c:pt>
                  <c:pt idx="1">
                    <c:v>ViT-B/16</c:v>
                  </c:pt>
                  <c:pt idx="2">
                    <c:v>ConvNeXt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98.6</c:v>
                </c:pt>
                <c:pt idx="1">
                  <c:v>98.8</c:v>
                </c:pt>
                <c:pt idx="2">
                  <c:v>98.6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 Accuracy (%)</c:v>
                </c:pt>
              </c:strCache>
            </c:strRef>
          </c:tx>
          <c:spPr>
            <a:solidFill>
              <a:srgbClr val="E85D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ResNet-50</c:v>
                  </c:pt>
                  <c:pt idx="1">
                    <c:v>ViT-B/16</c:v>
                  </c:pt>
                  <c:pt idx="2">
                    <c:v>ConvNeXt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92.1</c:v>
                </c:pt>
                <c:pt idx="1">
                  <c:v>95.2</c:v>
                </c:pt>
                <c:pt idx="2">
                  <c:v>92.1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200400" cy="3200400"/>
          </a:xfrm>
          <a:prstGeom prst="ellipse">
            <a:avLst/>
          </a:prstGeom>
          <a:solidFill>
            <a:srgbClr val="E85D4A">
              <a:alpha val="8000"/>
            </a:srgbClr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Diffusion-Augmented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 for CRC Tissue Classification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ResNet-50, ViT-B/16 &amp; ConvNeXt with Stable Diffusion Augmentation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Sharath Chandra Shankar  ·  NCT-CRC-HE Dataset  ·  May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429768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1320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4315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0" y="45902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accuracy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29400" y="429768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1320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4315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classes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45902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types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55280" y="429768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1320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4315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runs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0" y="45902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743200" cy="1554480"/>
          </a:xfrm>
          <a:prstGeom prst="rect">
            <a:avLst/>
          </a:prstGeom>
          <a:solidFill>
            <a:srgbClr val="13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5727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Colorectal cancer, class imbalance, data scarcity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743200" cy="1554480"/>
          </a:xfrm>
          <a:prstGeom prst="rect">
            <a:avLst/>
          </a:prstGeom>
          <a:solidFill>
            <a:srgbClr val="13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91840" y="15727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NCT-CRC-HE: 7,180 H&amp;E patches, 9 tissue classes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005840"/>
            <a:ext cx="2743200" cy="1554480"/>
          </a:xfrm>
          <a:prstGeom prst="rect">
            <a:avLst/>
          </a:prstGeom>
          <a:solidFill>
            <a:srgbClr val="13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15727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Augmentation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 img2img + CLIP quality filter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2743200" cy="1554480"/>
          </a:xfrm>
          <a:prstGeom prst="rect">
            <a:avLst/>
          </a:prstGeom>
          <a:solidFill>
            <a:srgbClr val="13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926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5760" y="34015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Architectures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vs ViT vs Hybrid — what makes each different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2834640"/>
            <a:ext cx="2743200" cy="1554480"/>
          </a:xfrm>
          <a:prstGeom prst="rect">
            <a:avLst/>
          </a:prstGeom>
          <a:solidFill>
            <a:srgbClr val="13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2926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291840" y="34015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83280" y="3794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98.9% accuracy, ablation study, the surprising finding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2834640"/>
            <a:ext cx="2743200" cy="1554480"/>
          </a:xfrm>
          <a:prstGeom prst="rect">
            <a:avLst/>
          </a:prstGeom>
          <a:solidFill>
            <a:srgbClr val="13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17920" y="2926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217920" y="34015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09360" y="3794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Streamlit + GradCAM + Uncertainty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0D9488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automated histology classification matters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Colorectal cancer: the clinical context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931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22960"/>
            <a:ext cx="7315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961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12435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cancer globally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3931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10512"/>
            <a:ext cx="7315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836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2311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of cancer-related mortality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798064"/>
            <a:ext cx="3931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798064"/>
            <a:ext cx="7315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712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 yrs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4360" y="32186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to become a pathologist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785616"/>
            <a:ext cx="3931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85616"/>
            <a:ext cx="7315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8587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3.95x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4360" y="4206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ratio in our dataset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822960"/>
            <a:ext cx="4114800" cy="3977640"/>
          </a:xfrm>
          <a:prstGeom prst="rect">
            <a:avLst/>
          </a:prstGeom>
          <a:solidFill>
            <a:srgbClr val="1B3A6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960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solves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846320" y="150876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1481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9-class tissue classification on H&amp;E patches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0574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20299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class imbalance with generative augmentation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6060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5786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CNN vs ViT vs Hybrid architectures rigorously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31546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31272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explainability (GradCAM, attention maps)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70332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36758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uncertainty for safe clinical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0D9488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NCT-CRC-HE: 7,180 H&amp;E patches from 50 CRC patients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tissue classes — each tells a different biological story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1600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960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epithelium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" y="1965960"/>
            <a:ext cx="128016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965960"/>
            <a:ext cx="1180318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863 patches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20824" y="868680"/>
            <a:ext cx="1600200" cy="1783080"/>
          </a:xfrm>
          <a:prstGeom prst="rect">
            <a:avLst/>
          </a:prstGeom>
          <a:solidFill>
            <a:srgbClr val="FFF1EE"/>
          </a:solidFill>
          <a:ln w="25400">
            <a:solidFill>
              <a:srgbClr val="E85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20824" y="960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66544" y="13716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stroma 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85416" y="1965960"/>
            <a:ext cx="128016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85416" y="1965960"/>
            <a:ext cx="403469" cy="128016"/>
          </a:xfrm>
          <a:prstGeom prst="rect">
            <a:avLst/>
          </a:prstGeom>
          <a:solidFill>
            <a:srgbClr val="E85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0824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 patches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21608" y="868680"/>
            <a:ext cx="1600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21608" y="960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LYM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67328" y="13716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Lymphocytes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86200" y="1965960"/>
            <a:ext cx="128016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86200" y="1965960"/>
            <a:ext cx="607255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21608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444 patches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22392" y="868680"/>
            <a:ext cx="1600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22392" y="960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68112" y="13716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muscle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86984" y="1965960"/>
            <a:ext cx="128016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86984" y="1965960"/>
            <a:ext cx="81608832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22392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059669 patches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23176" y="868680"/>
            <a:ext cx="1600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123176" y="960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168896" y="13716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mucosa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87768" y="1965960"/>
            <a:ext cx="128016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87768" y="1965960"/>
            <a:ext cx="709832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23176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519 patches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2834640"/>
            <a:ext cx="1600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20040" y="2926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65760" y="3337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Adipose tissue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" y="3931920"/>
            <a:ext cx="128016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" y="3931920"/>
            <a:ext cx="128016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936 patches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020824" y="2834640"/>
            <a:ext cx="1600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020824" y="2926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MUC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2066544" y="3337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Mucus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185416" y="3931920"/>
            <a:ext cx="128016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85416" y="3931920"/>
            <a:ext cx="990209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20824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724 patches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721608" y="2834640"/>
            <a:ext cx="1600200" cy="1783080"/>
          </a:xfrm>
          <a:prstGeom prst="rect">
            <a:avLst/>
          </a:prstGeom>
          <a:solidFill>
            <a:srgbClr val="FFF1EE"/>
          </a:solidFill>
          <a:ln w="25400">
            <a:solidFill>
              <a:srgbClr val="E85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721608" y="2926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3767328" y="3337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Debris ←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886200" y="3931920"/>
            <a:ext cx="128016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86200" y="3931920"/>
            <a:ext cx="324143" cy="128016"/>
          </a:xfrm>
          <a:prstGeom prst="rect">
            <a:avLst/>
          </a:prstGeom>
          <a:solidFill>
            <a:srgbClr val="E85D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21608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 patches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422392" y="2834640"/>
            <a:ext cx="1600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422392" y="2926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5468112" y="33375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586984" y="3931920"/>
            <a:ext cx="128016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86984" y="3931920"/>
            <a:ext cx="811042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22392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593 patches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minority classes targeted for diffusion augmentation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0D9488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Diffusion Augmentation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 img2img + CLIP quality filtering on Apple M4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generation pipeline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920240" cy="2286000"/>
          </a:xfrm>
          <a:prstGeom prst="rect">
            <a:avLst/>
          </a:prstGeom>
          <a:solidFill>
            <a:srgbClr val="132040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8992" y="8686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real patch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DEB or STR patch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init image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96596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828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0" y="822960"/>
            <a:ext cx="1920240" cy="2286000"/>
          </a:xfrm>
          <a:prstGeom prst="rect">
            <a:avLst/>
          </a:prstGeom>
          <a:solidFill>
            <a:srgbClr val="132040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3552" y="86868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6032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img2img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19659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Class-specific H&amp;E prompt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0.35–0.40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196596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1828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822960"/>
            <a:ext cx="1920240" cy="2286000"/>
          </a:xfrm>
          <a:prstGeom prst="rect">
            <a:avLst/>
          </a:prstGeom>
          <a:solidFill>
            <a:srgbClr val="132040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68112" y="86868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5488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filter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19659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vs class prompt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≥ 0.22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1965960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18288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49440" y="822960"/>
            <a:ext cx="1920240" cy="2286000"/>
          </a:xfrm>
          <a:prstGeom prst="rect">
            <a:avLst/>
          </a:prstGeom>
          <a:solidFill>
            <a:srgbClr val="132040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62672" y="868680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4944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disk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0" y="19659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saved for reuse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training runs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383280"/>
            <a:ext cx="1920240" cy="1417320"/>
          </a:xfrm>
          <a:prstGeom prst="rect">
            <a:avLst/>
          </a:prstGeom>
          <a:solidFill>
            <a:srgbClr val="132040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5760" y="3456432"/>
            <a:ext cx="19202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365760" y="4233672"/>
            <a:ext cx="192024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synthetic patches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 DEB + 100 STR)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0" y="3383280"/>
            <a:ext cx="1920240" cy="1417320"/>
          </a:xfrm>
          <a:prstGeom prst="rect">
            <a:avLst/>
          </a:prstGeom>
          <a:solidFill>
            <a:srgbClr val="132040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560320" y="3456432"/>
            <a:ext cx="19202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2560320" y="4233672"/>
            <a:ext cx="192024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acceptance 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threshold 0.22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3383280"/>
            <a:ext cx="1920240" cy="1417320"/>
          </a:xfrm>
          <a:prstGeom prst="rect">
            <a:avLst/>
          </a:prstGeom>
          <a:solidFill>
            <a:srgbClr val="132040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0" y="3456432"/>
            <a:ext cx="19202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~10s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4754880" y="4233672"/>
            <a:ext cx="192024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image on M4 MPS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(~35 min total)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49440" y="3383280"/>
            <a:ext cx="1920240" cy="1417320"/>
          </a:xfrm>
          <a:prstGeom prst="rect">
            <a:avLst/>
          </a:prstGeom>
          <a:solidFill>
            <a:srgbClr val="132040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949440" y="3456432"/>
            <a:ext cx="192024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423 / 467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6949440" y="4233672"/>
            <a:ext cx="192024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 scores DEB / STR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(domain gap confirmed)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0D9488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Architectures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model is fundamentally different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 vs ViT vs Hybrid — a fundamental design comparison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777240"/>
            <a:ext cx="2743200" cy="41605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777240"/>
            <a:ext cx="274320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ResNet-50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115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904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 params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149047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STR: 92.1%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spatial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bias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3×3 filters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local patterns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" y="2898648"/>
            <a:ext cx="146304" cy="1463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862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 assumption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" y="3282696"/>
            <a:ext cx="146304" cy="1463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invariant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" y="3666744"/>
            <a:ext cx="146304" cy="1463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630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efficient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" y="4050792"/>
            <a:ext cx="146304" cy="1463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40142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stage 1 convergence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64408" y="777240"/>
            <a:ext cx="2743200" cy="4160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64408" y="777240"/>
            <a:ext cx="27432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804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ViT-B/16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64408" y="1115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55848" y="14904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86M params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81728" y="149047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STR: 95.2%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55848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spatial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bias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55848" y="2331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 patches attend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each other globally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74136" y="289864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2862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LLMs for images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74136" y="328269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 natively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74136" y="3666744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80" y="3630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STR accuracy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74136" y="4050792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11880" y="40142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more epochs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08776" y="777240"/>
            <a:ext cx="2743200" cy="41605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08776" y="777240"/>
            <a:ext cx="274320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08776" y="8046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ConvNeXt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208776" y="1115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00216" y="14904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89M params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26096" y="149047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STR: 92.1%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0216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structure +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design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00216" y="2331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conv +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 + GELU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18504" y="2898648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56248" y="2862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 worlds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18504" y="3282696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56248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 sensitive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318504" y="3666744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56248" y="3630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 by synthetic data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318504" y="4050792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56248" y="40142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ResNet baseline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0D9488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98.9% peak accuracy — and a surprising ablation finding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benchmark — all three models, test set performance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777240"/>
          <a:ext cx="50292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577840" y="777240"/>
            <a:ext cx="32918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577840" y="777240"/>
            <a:ext cx="73152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60720" y="868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wins on STR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760720" y="121615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95.2% vs 92.1% for CNN &amp; ConvNeXt. Global attention captures distributed fibrous patterns better than local filters.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577840" y="2194560"/>
            <a:ext cx="32918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77840" y="2194560"/>
            <a:ext cx="73152" cy="1280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0" y="2286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 identical across all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60720" y="263347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98.0% for all three models. Debris is a local texture problem — no architectural advantage.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77840" y="3611880"/>
            <a:ext cx="32918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3611880"/>
            <a:ext cx="73152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overall accuracy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760720" y="405079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within 0.2% overall. The real story is in the per-class breakdown, not the headline number.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Ablation: what synthetic augmentation actually did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2743200" cy="3200400"/>
          </a:xfrm>
          <a:prstGeom prst="rect">
            <a:avLst/>
          </a:prstGeom>
          <a:solidFill>
            <a:srgbClr val="132040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ResNet-50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accuracy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92.1%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1762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54480" y="16916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95.2%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28800" y="21762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+synthetic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56032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78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+3.1%  HELPED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10128" y="777240"/>
            <a:ext cx="2743200" cy="3200400"/>
          </a:xfrm>
          <a:prstGeom prst="rect">
            <a:avLst/>
          </a:prstGeom>
          <a:solidFill>
            <a:srgbClr val="132040"/>
          </a:solidFill>
          <a:ln w="254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10128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ViT-B/16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10128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accuracy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01568" y="1691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95.2%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01568" y="21762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98848" y="16916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73168" y="1691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95.2%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73168" y="21762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+synthetic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67328" y="256032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94A3B8">
              <a:alpha val="3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67328" y="2578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  NO EFFECT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54496" y="777240"/>
            <a:ext cx="2743200" cy="3200400"/>
          </a:xfrm>
          <a:prstGeom prst="rect">
            <a:avLst/>
          </a:prstGeom>
          <a:solidFill>
            <a:srgbClr val="132040"/>
          </a:solidFill>
          <a:ln w="25400">
            <a:solidFill>
              <a:srgbClr val="E85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54496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ConvNeXt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54496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accuracy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45936" y="1691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92.1%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45936" y="21762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43216" y="16916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717536" y="1691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90.5%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717536" y="21762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+synthetic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11696" y="256032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E85D4A">
              <a:alpha val="20000"/>
            </a:srgbClr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11696" y="2578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-1.6%  HURT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4160520"/>
            <a:ext cx="8412480" cy="777240"/>
          </a:xfrm>
          <a:prstGeom prst="rect">
            <a:avLst/>
          </a:prstGeom>
          <a:solidFill>
            <a:srgbClr val="1320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2519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diffusion augmentation is architecture-dependent. It helps CNN (closes the gap with ViT), makes no difference for ViT (already solved by global attention), and hurts ConvNeXt (distribution-sensitive hybrid design).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ViT outperforms CNN on cancer-associated stroma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4023360" cy="40233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ResNet-50 (CNN)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 3×3 pixel window at a time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1828800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7864" y="1828800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45336" y="1828800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92808" y="1828800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176272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176272"/>
            <a:ext cx="329184" cy="329184"/>
          </a:xfrm>
          <a:prstGeom prst="rect">
            <a:avLst/>
          </a:prstGeom>
          <a:solidFill>
            <a:srgbClr val="BFDB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97864" y="2176272"/>
            <a:ext cx="329184" cy="329184"/>
          </a:xfrm>
          <a:prstGeom prst="rect">
            <a:avLst/>
          </a:prstGeom>
          <a:solidFill>
            <a:srgbClr val="BFDB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45336" y="2176272"/>
            <a:ext cx="329184" cy="329184"/>
          </a:xfrm>
          <a:prstGeom prst="rect">
            <a:avLst/>
          </a:prstGeom>
          <a:solidFill>
            <a:srgbClr val="BFDB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92808" y="2176272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523744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" y="2523744"/>
            <a:ext cx="329184" cy="329184"/>
          </a:xfrm>
          <a:prstGeom prst="rect">
            <a:avLst/>
          </a:prstGeom>
          <a:solidFill>
            <a:srgbClr val="BFDB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97864" y="2523744"/>
            <a:ext cx="329184" cy="329184"/>
          </a:xfrm>
          <a:prstGeom prst="rect">
            <a:avLst/>
          </a:prstGeom>
          <a:solidFill>
            <a:srgbClr val="BFDB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45336" y="2523744"/>
            <a:ext cx="329184" cy="329184"/>
          </a:xfrm>
          <a:prstGeom prst="rect">
            <a:avLst/>
          </a:prstGeom>
          <a:solidFill>
            <a:srgbClr val="BFDB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92808" y="2523744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871216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392" y="2871216"/>
            <a:ext cx="329184" cy="329184"/>
          </a:xfrm>
          <a:prstGeom prst="rect">
            <a:avLst/>
          </a:prstGeom>
          <a:solidFill>
            <a:srgbClr val="BFDB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7864" y="2871216"/>
            <a:ext cx="329184" cy="329184"/>
          </a:xfrm>
          <a:prstGeom prst="rect">
            <a:avLst/>
          </a:prstGeom>
          <a:solidFill>
            <a:srgbClr val="BFDB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45336" y="2871216"/>
            <a:ext cx="329184" cy="329184"/>
          </a:xfrm>
          <a:prstGeom prst="rect">
            <a:avLst/>
          </a:prstGeom>
          <a:solidFill>
            <a:srgbClr val="BFDB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92808" y="2871216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218688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" y="3218688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97864" y="3218688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45336" y="3218688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92808" y="3218688"/>
            <a:ext cx="329184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657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receptive field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68880" y="18745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diagnosis requires seeing the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disorganised fibrous arrangement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WHOLE patch — not just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3×3 local window.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" y="4434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result: 92.1% STR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0" y="822960"/>
            <a:ext cx="4206240" cy="402336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6344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ViT-B/16 (Transformer)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66344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196 patches attend to each other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212080" y="2011680"/>
            <a:ext cx="2194560" cy="1005840"/>
          </a:xfrm>
          <a:prstGeom prst="line">
            <a:avLst/>
          </a:prstGeom>
          <a:noFill/>
          <a:ln w="1905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0" y="1783080"/>
            <a:ext cx="1188720" cy="1874520"/>
          </a:xfrm>
          <a:prstGeom prst="line">
            <a:avLst/>
          </a:prstGeom>
          <a:noFill/>
          <a:ln w="1905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75120" y="1920240"/>
            <a:ext cx="-274320" cy="2057400"/>
          </a:xfrm>
          <a:prstGeom prst="line">
            <a:avLst/>
          </a:prstGeom>
          <a:noFill/>
          <a:ln w="1905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23760" y="2377440"/>
            <a:ext cx="-1645920" cy="1463040"/>
          </a:xfrm>
          <a:prstGeom prst="line">
            <a:avLst/>
          </a:prstGeom>
          <a:noFill/>
          <a:ln w="1905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12080" y="2011680"/>
            <a:ext cx="1188720" cy="1965960"/>
          </a:xfrm>
          <a:prstGeom prst="line">
            <a:avLst/>
          </a:prstGeom>
          <a:noFill/>
          <a:ln w="1905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0" y="1783080"/>
            <a:ext cx="1463040" cy="1234440"/>
          </a:xfrm>
          <a:prstGeom prst="line">
            <a:avLst/>
          </a:prstGeom>
          <a:noFill/>
          <a:ln w="1905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02352" y="190195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33872" y="167335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65392" y="181051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14032" y="226771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96912" y="290779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22592" y="354787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91072" y="386791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68112" y="373075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65192" y="3090672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1874520"/>
            <a:ext cx="777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patch can directly inform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patch — the disordered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fibrous arrangement is visible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global view.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663440" y="4434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result: 95.2% STR (+3.1%)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0D9488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Streamlit + Docker + GradCAM + Uncertainty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live demo shows — 4 outputs from one image upload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41148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5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22960"/>
            <a:ext cx="73152" cy="1828800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9326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class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21208" y="138988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 — Colorectal adenocarcinoma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confidence · 35ms inference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822960"/>
            <a:ext cx="41148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822960"/>
            <a:ext cx="73152" cy="1828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9326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GradCAM heatmap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10328" y="138988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regions = where model focused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Gradient-weighted class activation map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926080"/>
            <a:ext cx="41148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926080"/>
            <a:ext cx="73152" cy="1828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30358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Dropout uncertainty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1208" y="349300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stochastic passes · std = 0.03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Low uncertainty — confident prediction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926080"/>
            <a:ext cx="41148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926080"/>
            <a:ext cx="73152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30358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attention map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10328" y="349300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12-head entropy analysis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01: 4.14 (diffuse) → global context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engineering challenges solved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4206240" cy="1261872"/>
          </a:xfrm>
          <a:prstGeom prst="rect">
            <a:avLst/>
          </a:prstGeom>
          <a:solidFill>
            <a:srgbClr val="13204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29768" y="8961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8961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10GB dataset download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Explicit split='crc_val_he_7k' — HF repo bundles 3 splits silently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206240" cy="1261872"/>
          </a:xfrm>
          <a:prstGeom prst="rect">
            <a:avLst/>
          </a:prstGeom>
          <a:solidFill>
            <a:srgbClr val="132040"/>
          </a:solidFill>
          <a:ln w="12700">
            <a:solidFill>
              <a:srgbClr val="E85D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64608" y="8961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5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49240" y="8961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 batch crash in SD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35331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One image at a time through SD pipeline — MPS doesn't support batch attention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4206240" cy="1261872"/>
          </a:xfrm>
          <a:prstGeom prst="rect">
            <a:avLst/>
          </a:prstGeom>
          <a:solidFill>
            <a:srgbClr val="1320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9768" y="23134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3134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GradCAM tensor error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277063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.cpu().detach() before .numpy() — MPS tensors cannot convert directly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240280"/>
            <a:ext cx="4206240" cy="1261872"/>
          </a:xfrm>
          <a:prstGeom prst="rect">
            <a:avLst/>
          </a:prstGeom>
          <a:solidFill>
            <a:srgbClr val="132040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64608" y="23134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49240" y="23134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attention all 1.0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277063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Monkey-patched MultiheadAttention.forward to force need_weights=True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657600"/>
            <a:ext cx="4206240" cy="1261872"/>
          </a:xfrm>
          <a:prstGeom prst="rect">
            <a:avLst/>
          </a:prstGeom>
          <a:solidFill>
            <a:srgbClr val="13204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9768" y="37307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3730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namespace conflict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18795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sys.path.insert(0, project_root) — conda had a system-level models package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657600"/>
            <a:ext cx="4206240" cy="1261872"/>
          </a:xfrm>
          <a:prstGeom prst="rect">
            <a:avLst/>
          </a:prstGeom>
          <a:solidFill>
            <a:srgbClr val="13204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64608" y="37307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49240" y="3730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path spaces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418795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Quoted the URI: mlflow ui --backend-store-uri "file://$(pwd)/..."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— what we found and what it means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4206240" cy="1828800"/>
          </a:xfrm>
          <a:prstGeom prst="rect">
            <a:avLst/>
          </a:prstGeom>
          <a:solidFill>
            <a:srgbClr val="132040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9875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&gt; augmentation for global classes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5544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ViT's self-attention solves STR without any synthetic data. Architectural choice is a stronger lever than data augmentation for classes defined by global tissue arrangement.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206240" cy="1828800"/>
          </a:xfrm>
          <a:prstGeom prst="rect">
            <a:avLst/>
          </a:prstGeom>
          <a:solidFill>
            <a:srgbClr val="132040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96012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40680" y="9875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augmentation is architecture-dependent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5544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+3.1% for CNN, 0% for ViT, -1.6% for ConvNeXt. Generative augmentation must be validated per-architecture before deployment.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4206240" cy="1828800"/>
          </a:xfrm>
          <a:prstGeom prst="rect">
            <a:avLst/>
          </a:prstGeom>
          <a:solidFill>
            <a:srgbClr val="132040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71800"/>
            <a:ext cx="411480" cy="4114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9992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quantification enables safe deployment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" y="35661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Dropout flag_for_review creates a human-in-the-loop system. A model that knows when it doesn't know is clinically safer than one that's always confident.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834640"/>
            <a:ext cx="4206240" cy="1828800"/>
          </a:xfrm>
          <a:prstGeom prst="rect">
            <a:avLst/>
          </a:prstGeom>
          <a:solidFill>
            <a:srgbClr val="132040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2971800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0680" y="29992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end to end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19472" y="35661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Streamlit + MLflow + Docker. 6 trained models, GradCAM + attention maps, full benchmarking suite.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live at localhost:8501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1554480" cy="1234440"/>
          </a:xfrm>
          <a:prstGeom prst="rect">
            <a:avLst/>
          </a:prstGeom>
          <a:solidFill>
            <a:srgbClr val="132040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633472"/>
            <a:ext cx="15544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98.9%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300984"/>
            <a:ext cx="15544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test 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2560320"/>
            <a:ext cx="1554480" cy="1234440"/>
          </a:xfrm>
          <a:prstGeom prst="rect">
            <a:avLst/>
          </a:prstGeom>
          <a:solidFill>
            <a:srgbClr val="132040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4560" y="2633472"/>
            <a:ext cx="15544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+3.1%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94560" y="3300984"/>
            <a:ext cx="15544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gain (CNN +synth)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1920" y="2560320"/>
            <a:ext cx="1554480" cy="1234440"/>
          </a:xfrm>
          <a:prstGeom prst="rect">
            <a:avLst/>
          </a:prstGeom>
          <a:solidFill>
            <a:srgbClr val="132040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31920" y="2633472"/>
            <a:ext cx="15544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runs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931920" y="3300984"/>
            <a:ext cx="15544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2560320"/>
            <a:ext cx="1554480" cy="1234440"/>
          </a:xfrm>
          <a:prstGeom prst="rect">
            <a:avLst/>
          </a:prstGeom>
          <a:solidFill>
            <a:srgbClr val="132040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2633472"/>
            <a:ext cx="15544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669280" y="3300984"/>
            <a:ext cx="15544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patches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06640" y="2560320"/>
            <a:ext cx="1554480" cy="1234440"/>
          </a:xfrm>
          <a:prstGeom prst="rect">
            <a:avLst/>
          </a:prstGeom>
          <a:solidFill>
            <a:srgbClr val="132040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06640" y="2633472"/>
            <a:ext cx="15544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APIs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406640" y="3300984"/>
            <a:ext cx="15544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owkin/nct-crc-he  ·  Stack: PyTorch · diffusers · MLflow · FastAPI · Streamlit · Docker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411480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114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Diffusion-Augmented Histology Classification</dc:title>
  <dc:subject>PptxGenJS Presentation</dc:subject>
  <dc:creator>PptxGenJS</dc:creator>
  <cp:lastModifiedBy>PptxGenJS</cp:lastModifiedBy>
  <cp:revision>1</cp:revision>
  <dcterms:created xsi:type="dcterms:W3CDTF">2026-05-28T08:41:14Z</dcterms:created>
  <dcterms:modified xsi:type="dcterms:W3CDTF">2026-05-28T08:41:14Z</dcterms:modified>
</cp:coreProperties>
</file>